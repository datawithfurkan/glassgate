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d9e41533924421" /><Relationship Type="http://schemas.openxmlformats.org/officeDocument/2006/relationships/extended-properties" Target="/docProps/app.xml" Id="R8dd8518051b04669" /><Relationship Type="http://schemas.openxmlformats.org/officeDocument/2006/relationships/officeDocument" Target="/ppt/presentation.xml" Id="R55f79cdc8adb42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346ae3e73c4852"/>
  </p:sldMasterIdLst>
  <p:notesMasterIdLst>
    <p:notesMasterId xmlns:r="http://schemas.openxmlformats.org/officeDocument/2006/relationships" r:id="Rc6cde797bec945a4"/>
  </p:notesMasterIdLst>
  <p:sldIdLst>
    <p:sldId xmlns:r="http://schemas.openxmlformats.org/officeDocument/2006/relationships" id="256" r:id="R81c93296f6e34544"/>
    <p:sldId xmlns:r="http://schemas.openxmlformats.org/officeDocument/2006/relationships" id="257" r:id="R1f7c1a26f4fb4bfe"/>
    <p:sldId xmlns:r="http://schemas.openxmlformats.org/officeDocument/2006/relationships" id="258" r:id="Rd6e09d79df31401e"/>
    <p:sldId xmlns:r="http://schemas.openxmlformats.org/officeDocument/2006/relationships" id="259" r:id="R81bd2037bc624e9d"/>
    <p:sldId xmlns:r="http://schemas.openxmlformats.org/officeDocument/2006/relationships" id="260" r:id="R31341e75712a4f15"/>
    <p:sldId xmlns:r="http://schemas.openxmlformats.org/officeDocument/2006/relationships" id="261" r:id="Reede210724ee40f1"/>
    <p:sldId xmlns:r="http://schemas.openxmlformats.org/officeDocument/2006/relationships" id="262" r:id="Ra8f1aa58ffa04fed"/>
    <p:sldId xmlns:r="http://schemas.openxmlformats.org/officeDocument/2006/relationships" id="263" r:id="R48e881363a164a97"/>
    <p:sldId xmlns:r="http://schemas.openxmlformats.org/officeDocument/2006/relationships" id="264" r:id="Rb7bd314be58b4e47"/>
    <p:sldId xmlns:r="http://schemas.openxmlformats.org/officeDocument/2006/relationships" id="265" r:id="Rab8f2bfda89b4ab8"/>
    <p:sldId xmlns:r="http://schemas.openxmlformats.org/officeDocument/2006/relationships" id="266" r:id="R48e1bc2a0ef04458"/>
    <p:sldId xmlns:r="http://schemas.openxmlformats.org/officeDocument/2006/relationships" id="267" r:id="Rf00938b895f445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11037aa1704c6a" /><Relationship Type="http://schemas.openxmlformats.org/officeDocument/2006/relationships/slideMaster" Target="/ppt/slideMasters/slideMaster1.xml" Id="R82346ae3e73c4852" /><Relationship Type="http://schemas.openxmlformats.org/officeDocument/2006/relationships/notesMaster" Target="/ppt/notesMasters/notesMaster1.xml" Id="Rc6cde797bec945a4" /><Relationship Type="http://schemas.openxmlformats.org/officeDocument/2006/relationships/presProps" Target="/ppt/presProps.xml" Id="R1d3ab4a27b624dd7" /><Relationship Type="http://schemas.openxmlformats.org/officeDocument/2006/relationships/viewProps" Target="/ppt/viewProps.xml" Id="R8ccfeeafddc740e6" /><Relationship Type="http://schemas.openxmlformats.org/officeDocument/2006/relationships/tableStyles" Target="/ppt/tableStyles.xml" Id="Ra60b3f010719463c" /><Relationship Type="http://schemas.openxmlformats.org/officeDocument/2006/relationships/slide" Target="/ppt/slides/slide1.xml" Id="R81c93296f6e34544" /><Relationship Type="http://schemas.openxmlformats.org/officeDocument/2006/relationships/slide" Target="/ppt/slides/slide2.xml" Id="R1f7c1a26f4fb4bfe" /><Relationship Type="http://schemas.openxmlformats.org/officeDocument/2006/relationships/slide" Target="/ppt/slides/slide3.xml" Id="Rd6e09d79df31401e" /><Relationship Type="http://schemas.openxmlformats.org/officeDocument/2006/relationships/slide" Target="/ppt/slides/slide4.xml" Id="R81bd2037bc624e9d" /><Relationship Type="http://schemas.openxmlformats.org/officeDocument/2006/relationships/slide" Target="/ppt/slides/slide5.xml" Id="R31341e75712a4f15" /><Relationship Type="http://schemas.openxmlformats.org/officeDocument/2006/relationships/slide" Target="/ppt/slides/slide6.xml" Id="Reede210724ee40f1" /><Relationship Type="http://schemas.openxmlformats.org/officeDocument/2006/relationships/slide" Target="/ppt/slides/slide7.xml" Id="Ra8f1aa58ffa04fed" /><Relationship Type="http://schemas.openxmlformats.org/officeDocument/2006/relationships/slide" Target="/ppt/slides/slide8.xml" Id="R48e881363a164a97" /><Relationship Type="http://schemas.openxmlformats.org/officeDocument/2006/relationships/slide" Target="/ppt/slides/slide9.xml" Id="Rb7bd314be58b4e47" /><Relationship Type="http://schemas.openxmlformats.org/officeDocument/2006/relationships/slide" Target="/ppt/slides/slide10.xml" Id="Rab8f2bfda89b4ab8" /><Relationship Type="http://schemas.openxmlformats.org/officeDocument/2006/relationships/slide" Target="/ppt/slides/slide11.xml" Id="R48e1bc2a0ef04458" /><Relationship Type="http://schemas.openxmlformats.org/officeDocument/2006/relationships/slide" Target="/ppt/slides/slide12.xml" Id="Rf00938b895f445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64f36b87924c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66af179dcd459e" /><Relationship Type="http://schemas.openxmlformats.org/officeDocument/2006/relationships/notesMaster" Target="/ppt/notesMasters/notesMaster1.xml" Id="Rf1849cf4b4ec45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0f45c2bd1349b6" /><Relationship Type="http://schemas.openxmlformats.org/officeDocument/2006/relationships/notesMaster" Target="/ppt/notesMasters/notesMaster1.xml" Id="R3f27fa006f3747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ac07e66cf6461c" /><Relationship Type="http://schemas.openxmlformats.org/officeDocument/2006/relationships/notesMaster" Target="/ppt/notesMasters/notesMaster1.xml" Id="R67709be1bdf54d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e259f51b134e0b" /><Relationship Type="http://schemas.openxmlformats.org/officeDocument/2006/relationships/notesMaster" Target="/ppt/notesMasters/notesMaster1.xml" Id="Rf732a225c5f541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cf99fc41c24344" /><Relationship Type="http://schemas.openxmlformats.org/officeDocument/2006/relationships/notesMaster" Target="/ppt/notesMasters/notesMaster1.xml" Id="R30f11cc62f174b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cdd0eb64441a8" /><Relationship Type="http://schemas.openxmlformats.org/officeDocument/2006/relationships/notesMaster" Target="/ppt/notesMasters/notesMaster1.xml" Id="R740f0694302b4e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25e4e4e6284bf1" /><Relationship Type="http://schemas.openxmlformats.org/officeDocument/2006/relationships/notesMaster" Target="/ppt/notesMasters/notesMaster1.xml" Id="Rf8a5a6fa06b24d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747ef373fd4639" /><Relationship Type="http://schemas.openxmlformats.org/officeDocument/2006/relationships/notesMaster" Target="/ppt/notesMasters/notesMaster1.xml" Id="Ra7809066f48747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aa139387954607" /><Relationship Type="http://schemas.openxmlformats.org/officeDocument/2006/relationships/notesMaster" Target="/ppt/notesMasters/notesMaster1.xml" Id="R96a2a48e38f34d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57932489854f98" /><Relationship Type="http://schemas.openxmlformats.org/officeDocument/2006/relationships/notesMaster" Target="/ppt/notesMasters/notesMaster1.xml" Id="R7b155064872a4c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66e1e6da654226" /><Relationship Type="http://schemas.openxmlformats.org/officeDocument/2006/relationships/notesMaster" Target="/ppt/notesMasters/notesMaster1.xml" Id="Ref49b9bb796b4e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487ea17743473d" /><Relationship Type="http://schemas.openxmlformats.org/officeDocument/2006/relationships/notesMaster" Target="/ppt/notesMasters/notesMaster1.xml" Id="R834c01bc45514c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910f4adaa4a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bb47f2443c4c98" /><Relationship Type="http://schemas.openxmlformats.org/officeDocument/2006/relationships/slideLayout" Target="/ppt/slideLayouts/slideLayout1.xml" Id="R42d32c92d94445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d32c92d94445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b239c48594fa8" /><Relationship Type="http://schemas.openxmlformats.org/officeDocument/2006/relationships/notesSlide" Target="/ppt/notesSlides/notesSlide1.xml" Id="Radb0fe8851df46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37e32869e43b5" /><Relationship Type="http://schemas.openxmlformats.org/officeDocument/2006/relationships/notesSlide" Target="/ppt/notesSlides/notesSlide2.xml" Id="Re8989ab3c84b4c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dc9591d294040" /><Relationship Type="http://schemas.openxmlformats.org/officeDocument/2006/relationships/notesSlide" Target="/ppt/notesSlides/notesSlide3.xml" Id="Red2dbbdab6ba45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fb0c56ddf4de2" /><Relationship Type="http://schemas.openxmlformats.org/officeDocument/2006/relationships/notesSlide" Target="/ppt/notesSlides/notesSlide4.xml" Id="Rdd694014cd4542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56afc9b634301" /><Relationship Type="http://schemas.openxmlformats.org/officeDocument/2006/relationships/notesSlide" Target="/ppt/notesSlides/notesSlide5.xml" Id="R1622b95f8c5542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376f433864046" /><Relationship Type="http://schemas.openxmlformats.org/officeDocument/2006/relationships/notesSlide" Target="/ppt/notesSlides/notesSlide6.xml" Id="R74d0a484599c42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317ff946740c0" /><Relationship Type="http://schemas.openxmlformats.org/officeDocument/2006/relationships/notesSlide" Target="/ppt/notesSlides/notesSlide7.xml" Id="R6c498d07d97c44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d1b0a0b2f4eba" /><Relationship Type="http://schemas.openxmlformats.org/officeDocument/2006/relationships/notesSlide" Target="/ppt/notesSlides/notesSlide8.xml" Id="Rdc5e4da1da0c42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46444b16a41b1" /><Relationship Type="http://schemas.openxmlformats.org/officeDocument/2006/relationships/notesSlide" Target="/ppt/notesSlides/notesSlide9.xml" Id="R04f295a78e4545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fbec50dea4a93" /><Relationship Type="http://schemas.openxmlformats.org/officeDocument/2006/relationships/notesSlide" Target="/ppt/notesSlides/notesSlide10.xml" Id="Rf13324e66c3a43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7f8b512594701" /><Relationship Type="http://schemas.openxmlformats.org/officeDocument/2006/relationships/notesSlide" Target="/ppt/notesSlides/notesSlide11.xml" Id="R87e5da828d3446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b2521743c4e2e" /><Relationship Type="http://schemas.openxmlformats.org/officeDocument/2006/relationships/notesSlide" Target="/ppt/notesSlides/notesSlide12.xml" Id="R82b7174d7d9542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051C8-57DE-4A99-8AB4-8685CEFD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1F"/>
          </a:solidFill>
          <a:ln xmlns:a="http://schemas.openxmlformats.org/drawingml/2006/main" w="0">
            <a:solidFill>
              <a:srgbClr val="102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5BBBB-79ED-48CA-B058-17EE6D20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1F"/>
          </a:solidFill>
          <a:ln xmlns:a="http://schemas.openxmlformats.org/drawingml/2006/main" w="0">
            <a:solidFill>
              <a:srgbClr val="10211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2C3E5-5372-4453-9E7C-521BE1F9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0"/>
            <a:ext cx="4905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2F"/>
          </a:solidFill>
          <a:ln xmlns:a="http://schemas.openxmlformats.org/drawingml/2006/main" w="0">
            <a:solidFill>
              <a:srgbClr val="173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9B20B-D9DB-432C-A997-1224C151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D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F2DD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65223-3BD4-4E89-8D86-7F865665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6381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Agent Delivery Network for the web.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1AB3F-18FA-476D-8E3C-DD59F3E1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7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7E2"/>
                </a:solidFill>
                <a:latin typeface="Aptos"/>
                <a:ea typeface="Aptos"/>
                <a:cs typeface="Aptos"/>
              </a:rPr>
              <a:t>GlassGate turns websites into structured, verified, low-latency endpoints for AI agents.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701A0-CD35-4869-8B0A-3658DC0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8FFF0"/>
          </a:solidFill>
          <a:ln xmlns:a="http://schemas.openxmlformats.org/drawingml/2006/main" w="9525">
            <a:solidFill>
              <a:srgbClr val="D8FF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F3E91-98A0-45D4-8F46-0727C75E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AI-readable mirrors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C88AC-CEA9-4959-A11F-F62C5DF9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1480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CFF"/>
          </a:solidFill>
          <a:ln xmlns:a="http://schemas.openxmlformats.org/drawingml/2006/main" w="9525">
            <a:solidFill>
              <a:srgbClr val="DCE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3F832-0AFF-4962-8759-59C799B2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8147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DD0"/>
                </a:solidFill>
                <a:latin typeface="Aptos"/>
                <a:ea typeface="Aptos"/>
                <a:cs typeface="Aptos"/>
              </a:rPr>
              <a:t>Agent gateway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40CB3-0D2B-4D5E-A18B-FDA8001B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6210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44"/>
          </a:solidFill>
          <a:ln xmlns:a="http://schemas.openxmlformats.org/drawingml/2006/main" w="9525">
            <a:solidFill>
              <a:srgbClr val="7EDE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00AC7-40CE-4991-91B8-D036458E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2134A-0B15-4EC5-9D3D-C62D80DA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0985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B"/>
          </a:solidFill>
          <a:ln xmlns:a="http://schemas.openxmlformats.org/drawingml/2006/main" w="0">
            <a:solidFill>
              <a:srgbClr val="7EDE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B9FA9-329E-47F6-B24E-D14C9BE8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765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4687B-839D-4531-B4F9-63F91A99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5760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44"/>
          </a:solidFill>
          <a:ln xmlns:a="http://schemas.openxmlformats.org/drawingml/2006/main" w="9525">
            <a:solidFill>
              <a:srgbClr val="7EDE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3DF06-9B05-4722-B4B3-EA3AF209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75F8A-0CB1-4E3B-83C2-9E4C33E3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5760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44"/>
          </a:solidFill>
          <a:ln xmlns:a="http://schemas.openxmlformats.org/drawingml/2006/main" w="9525">
            <a:solidFill>
              <a:srgbClr val="7EDE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C8A95-DA17-451E-95EC-3595207C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2430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832DA-2AD1-42C5-BF7D-138E095F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FF0"/>
          </a:solidFill>
          <a:ln xmlns:a="http://schemas.openxmlformats.org/drawingml/2006/main" w="0">
            <a:solidFill>
              <a:srgbClr val="D8FF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44D06-5FCC-4F34-AD7F-B8E83566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387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/llms.txt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508DD-9B40-4C6A-B2F0-852983FE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7680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FF0"/>
          </a:solidFill>
          <a:ln xmlns:a="http://schemas.openxmlformats.org/drawingml/2006/main" w="0">
            <a:solidFill>
              <a:srgbClr val="D8FF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DE424-6682-40E6-BC56-01E452D8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387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/page.md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4972D-BA21-4E4C-9701-AA94682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7680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FF0"/>
          </a:solidFill>
          <a:ln xmlns:a="http://schemas.openxmlformats.org/drawingml/2006/main" w="0">
            <a:solidFill>
              <a:srgbClr val="D8FF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F2791-0AE4-4DBF-8D46-9373B09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0387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/page.json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BE2DD-3CF7-4442-A2E4-7FC72280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BB5"/>
                </a:solidFill>
                <a:latin typeface="Aptos"/>
                <a:ea typeface="Aptos"/>
                <a:cs typeface="Aptos"/>
              </a:rPr>
              <a:t>Investor draft | Hamburg launch wedge | 2026</a:t>
            </a:r>
          </a:p>
        </p:txBody>
      </p:sp>
    </p:spTree>
    <p:extLst>
      <p:ext uri="{BB962C8B-B14F-4D97-AF65-F5344CB8AC3E}">
        <p14:creationId xmlns:p14="http://schemas.microsoft.com/office/powerpoint/2010/main" val="6920162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CC52E-5A19-4F16-B053-5B807B0C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E94D1-EE90-4AF2-A4C4-0939ADB8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EB4D3-BEE9-49DE-AB39-B18ED6C0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rPr>
              <a:t>AI agents are reading a browser-shaped internet.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345DF-5DFE-4A26-A559-AD8F6A4D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38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The web was optimized for humans clicking pages and search crawlers indexing links. Agents need compact, canonical, machine-readable source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6EC23-6342-49F8-BEE8-260317DC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952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1D1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59E85-62A8-437D-AD8C-E4F09B86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5B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5B00"/>
                </a:solidFill>
                <a:latin typeface="Aptos"/>
                <a:ea typeface="Aptos"/>
                <a:cs typeface="Aptos"/>
              </a:rPr>
              <a:t>Noisy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34E9A-8B7F-482B-9B72-43CE0E85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609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JavaScript-heavy pages</a:t>
            </a:r>
          </a:p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Layout copy and duplicate nav</a:t>
            </a:r>
          </a:p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PDFs, tables, image text</a:t>
            </a:r>
          </a:p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Inconsistent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BBF83-66DB-4A27-9A87-323954D6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2952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49749-8B62-4CDC-98C5-3F690590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622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Weak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AF6A3-60FA-436C-932A-67D16C6F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86050"/>
            <a:ext cx="2609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Fragmented crawler rules</a:t>
            </a:r>
          </a:p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Different AI user agents</a:t>
            </a:r>
          </a:p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Little access visibility</a:t>
            </a:r>
          </a:p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No policy for future agent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ED3FB-1842-4743-948F-D768AC23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952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EB"/>
          </a:solidFill>
          <a:ln xmlns:a="http://schemas.openxmlformats.org/drawingml/2006/main" w="9525">
            <a:solidFill>
              <a:srgbClr val="F0B4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5224D-516E-4DF9-BE8A-20381200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2D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A2D27"/>
                </a:solidFill>
                <a:latin typeface="Aptos"/>
                <a:ea typeface="Aptos"/>
                <a:cs typeface="Aptos"/>
              </a:rPr>
              <a:t>Bad outcomes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C6046-7677-418B-8876-2FE42548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609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Misstated business facts</a:t>
            </a:r>
          </a:p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Missed citations</a:t>
            </a:r>
          </a:p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Slow agent retrieval</a:t>
            </a:r>
          </a:p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- Future lost transactions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FEBF1-33F6-48E5-AD7E-6861056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If agents become a primary discovery and transaction channel, every business needs an agent-readable source layer.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21895-2D8F-4F5E-B91A-63B539B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7CAEA-CF8E-49F3-8421-EE97310F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GlassGate investor draft | 2026</a:t>
            </a:r>
          </a:p>
        </p:txBody>
      </p:sp>
    </p:spTree>
    <p:extLst>
      <p:ext uri="{BB962C8B-B14F-4D97-AF65-F5344CB8AC3E}">
        <p14:creationId xmlns:p14="http://schemas.microsoft.com/office/powerpoint/2010/main" val="12677088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57F877-5A82-4D01-AA86-F5460EA4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0D104-3419-4FFB-B050-2E6F0421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B283A-D393-4C83-9EF5-63D83310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rPr>
              <a:t>Why now: agent traffic is becoming a real web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38065-986D-48A9-8ADB-68AA195C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DD8"/>
          </a:solidFill>
          <a:ln xmlns:a="http://schemas.openxmlformats.org/drawingml/2006/main" w="0">
            <a:solidFill>
              <a:srgbClr val="D1DD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ABD6F-C60E-4151-AB5E-F85E61A2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4B"/>
          </a:solidFill>
          <a:ln xmlns:a="http://schemas.openxmlformats.org/drawingml/2006/main" w="0">
            <a:solidFill>
              <a:srgbClr val="0F6B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FC8B6-2DE0-414F-BF3D-B661D185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90900"/>
            <a:ext cx="1866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D"/>
          </a:solidFill>
          <a:ln xmlns:a="http://schemas.openxmlformats.org/drawingml/2006/main" w="9525">
            <a:solidFill>
              <a:srgbClr val="D3E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DA3D0-2CC9-48D0-8563-CE847FBA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YC RFS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D43C2-9ABD-44A0-803D-7AC2E892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Software for agents: APIs, MCPs, docs, machine-readable interfaces.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C4763-C361-4F6B-B9D6-9268A65A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  <a:ln xmlns:a="http://schemas.openxmlformats.org/drawingml/2006/main" w="0">
            <a:solidFill>
              <a:srgbClr val="1C6D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41BAF-BA95-4140-A7E9-5D1EE6FB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90900"/>
            <a:ext cx="1866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FF"/>
          </a:solidFill>
          <a:ln xmlns:a="http://schemas.openxmlformats.org/drawingml/2006/main" w="9525">
            <a:solidFill>
              <a:srgbClr val="D3E1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0498D-912B-4550-851A-7ED117FF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43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6DD0"/>
                </a:solidFill>
                <a:latin typeface="Aptos"/>
                <a:ea typeface="Aptos"/>
                <a:cs typeface="Aptos"/>
              </a:rPr>
              <a:t>Cloudflare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02711-3123-4CDE-8EA7-C12A946C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67150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AI Crawl Control, Pay Per Crawl, Web Bot Auth, Markdown for Agents, /crawl.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8476C-AC88-4C44-BFB1-50732306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47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4B"/>
          </a:solidFill>
          <a:ln xmlns:a="http://schemas.openxmlformats.org/drawingml/2006/main" w="0">
            <a:solidFill>
              <a:srgbClr val="0F6B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DE683-A3EC-4F1B-8488-7CBDECDF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90900"/>
            <a:ext cx="1866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D3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EE954-4854-495A-8EC0-37EBE10E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94809-9DF3-4CFE-8E80-C9FC7135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67150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Separate crawler and user-agent docs for search, training, and user-triggered browsing.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79990-F696-4AF0-AE81-B5A2434F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47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300"/>
          </a:solidFill>
          <a:ln xmlns:a="http://schemas.openxmlformats.org/drawingml/2006/main" w="0">
            <a:solidFill>
              <a:srgbClr val="7A53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F5512-89F5-49AE-AAD6-EF2EF7EF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90900"/>
            <a:ext cx="1866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D3E1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B27AA-4471-49BA-994B-53EAB9D7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43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53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A5300"/>
                </a:solidFill>
                <a:latin typeface="Aptos"/>
                <a:ea typeface="Aptos"/>
                <a:cs typeface="Aptos"/>
              </a:rPr>
              <a:t>AI visibility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7CD37-649D-4D8E-8A65-2F81DE37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67150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Profound, Peec, Semrush, Scrunch validate buyer demand.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98553-AED2-4B1A-8119-1F3A38E3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44A0"/>
          </a:solidFill>
          <a:ln xmlns:a="http://schemas.openxmlformats.org/drawingml/2006/main" w="0">
            <a:solidFill>
              <a:srgbClr val="5844A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B7876-07EC-4E46-BCD7-44B97B8C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1866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FF"/>
          </a:solidFill>
          <a:ln xmlns:a="http://schemas.openxmlformats.org/drawingml/2006/main" w="9525">
            <a:solidFill>
              <a:srgbClr val="D3E1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F5BD3-AB7C-4E39-84ED-66FA3675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3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44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44A0"/>
                </a:solidFill>
                <a:latin typeface="Aptos"/>
                <a:ea typeface="Aptos"/>
                <a:cs typeface="Aptos"/>
              </a:rPr>
              <a:t>Agent commerce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46FA4-BA98-4CC7-8D11-41827DAB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67150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Stripe, Mastercard, and standards work point toward identity, permissions, and paid access.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1B5042-EAE1-4B9E-9502-8484FF72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9667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GlassGate is not betting on a single file standard. It is betting on the broader shift from browser pages to agent-readable business endpoints.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C7574-FF9F-445B-9DF9-DADFAD14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285239-4A9C-471A-997D-64E6031D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Sources: YC RFS, Cloudflare docs, OpenAI bot docs, Google AI Features docs, Profound/Peec announcements</a:t>
            </a:r>
          </a:p>
        </p:txBody>
      </p:sp>
    </p:spTree>
    <p:extLst>
      <p:ext uri="{BB962C8B-B14F-4D97-AF65-F5344CB8AC3E}">
        <p14:creationId xmlns:p14="http://schemas.microsoft.com/office/powerpoint/2010/main" val="18207923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9B620C-A2D4-4AC0-ABA3-078ED01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2A2E4-C768-4A0C-8DB6-04D15C96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5C225-ABE2-4DAF-9144-86BEEBBE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rPr>
              <a:t>GlassGate turns websites into public agent-ready endpoints.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EB9F1-2B63-41E3-A7FD-0D3AE3EE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048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59FDF-A855-4C9E-A783-010452C5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Human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CCBB7-6F00-43CD-BEB6-3BC0EAC4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7051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The canonical site remains visible, public, and unchanged for humans.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Brand pages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Product pages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Docs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FAQs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Policies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B0539-5085-457C-8BE9-C47075B6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385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05F2B-0698-4124-AA9C-D56E54EE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20A3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99C8B-80BC-4A12-963A-7162C49F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621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 Mirror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CD303-CB31-42F5-AA34-169A2D26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7051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Crawl, normalize, validate, and sync source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Canonical checks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Structured extraction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Schema consistency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Freshness monitoring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22E9D-E8E6-4EB5-93DD-D9C8CDB5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8D0BC-0E42-4430-9DEB-390BE8B6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3048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9525">
            <a:solidFill>
              <a:srgbClr val="A9CF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2AFC7-14C4-43A7-B305-3FFB8E9B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6DD0"/>
                </a:solidFill>
                <a:latin typeface="Aptos"/>
                <a:ea typeface="Aptos"/>
                <a:cs typeface="Aptos"/>
              </a:rPr>
              <a:t>Agent endpoints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A2819-6ABD-4345-952B-C8B210C7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7051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/llms.txt</a:t>
            </a:r>
          </a:p>
          <a:p xmlns:a="http://schemas.openxmlformats.org/drawingml/2006/main">
            <a:pPr algn="l">
              <a:defRPr sz="12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/llms-full.txt</a:t>
            </a:r>
          </a:p>
          <a:p xmlns:a="http://schemas.openxmlformats.org/drawingml/2006/main">
            <a:pPr algn="l">
              <a:defRPr sz="12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/page.md</a:t>
            </a:r>
          </a:p>
          <a:p xmlns:a="http://schemas.openxmlformats.org/drawingml/2006/main">
            <a:pPr algn="l">
              <a:defRPr sz="12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/page.json</a:t>
            </a:r>
          </a:p>
          <a:p xmlns:a="http://schemas.openxmlformats.org/drawingml/2006/main">
            <a:pPr algn="l">
              <a:defRPr sz="12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/ai-index.json</a:t>
            </a:r>
          </a:p>
          <a:p xmlns:a="http://schemas.openxmlformats.org/drawingml/2006/main">
            <a:pPr algn="l">
              <a:defRPr sz="12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/agent-policy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48D82-151C-40FB-B95F-B6DE3749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95900"/>
            <a:ext cx="2667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7F2DD"/>
          </a:solidFill>
          <a:ln xmlns:a="http://schemas.openxmlformats.org/drawingml/2006/main" w="9525">
            <a:solidFill>
              <a:srgbClr val="C7F2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477D1-F430-4C0E-8112-9E76F6A2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62575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Public, not hidden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75A30-CAF0-4CD4-952D-BB41C4A0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95900"/>
            <a:ext cx="2667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7F2DD"/>
          </a:solidFill>
          <a:ln xmlns:a="http://schemas.openxmlformats.org/drawingml/2006/main" w="9525">
            <a:solidFill>
              <a:srgbClr val="C7F2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B3347-E1D3-4EAB-AC7E-AA35D5F1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362575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Synced to canonical pages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E996F-EA50-46F2-BB51-BED51186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95900"/>
            <a:ext cx="2667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EBFF"/>
          </a:solidFill>
          <a:ln xmlns:a="http://schemas.openxmlformats.org/drawingml/2006/main" w="9525">
            <a:solidFill>
              <a:srgbClr val="D9E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4E4F8-BD59-431F-9C7F-2A6EFBD0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62575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DD0"/>
                </a:solidFill>
                <a:latin typeface="Aptos"/>
                <a:ea typeface="Aptos"/>
                <a:cs typeface="Aptos"/>
              </a:rPr>
              <a:t>Built for agent retrieval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3294C-303F-4538-8975-6050EC1A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C0DB6-4F37-429C-9AAF-8C1FA514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GlassGate investor draft | 2026</a:t>
            </a:r>
          </a:p>
        </p:txBody>
      </p:sp>
    </p:spTree>
    <p:extLst>
      <p:ext uri="{BB962C8B-B14F-4D97-AF65-F5344CB8AC3E}">
        <p14:creationId xmlns:p14="http://schemas.microsoft.com/office/powerpoint/2010/main" val="13775600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D753D8-1C83-4B15-91E1-FB316ECE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1AFEB-64A6-4164-A0D9-E3BA50DA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5D5D7-7A40-4F3C-A186-5A2CA36D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rPr>
              <a:t>Two-layer strategy: sellable wedge now, network upside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2E222-4FFA-4F9E-8959-9A1D5C11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4767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3"/>
          </a:solidFill>
          <a:ln xmlns:a="http://schemas.openxmlformats.org/drawingml/2006/main" w="9525">
            <a:solidFill>
              <a:srgbClr val="20A3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1A440-B228-4F21-AE0C-8B625F44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Layer 1: GlassGate Mirror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48FCD-1907-4D0B-95F3-4DB384D7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41338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Paid product for businesses and agencies.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AI-readiness audit</a:t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llms.txt and Markdown mirrors</a:t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JSON facts and AI index</a:t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Scheduled sync</a:t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Crawler/access reporting</a:t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White-label agency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B6BEF-0D2A-415B-834C-6C3EE26D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147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BBF8F-C5F5-42C2-AAB1-86ADECB3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44767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9525">
            <a:solidFill>
              <a:srgbClr val="8DBF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A5BD3-54B8-4B65-A776-713B301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6DD0"/>
                </a:solidFill>
                <a:latin typeface="Aptos"/>
                <a:ea typeface="Aptos"/>
                <a:cs typeface="Aptos"/>
              </a:rPr>
              <a:t>Layer 2: GlassGate 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5DA5F-3696-4E0D-B23F-F93E555D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19350"/>
            <a:ext cx="41338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Agent delivery network for structured web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Gateway or edge deployment</a:t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Agent identity and policies</a:t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Authenticated or paid access</a:t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Structured API for vertical agents</a:t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Low-latency cached source data</a:t>
            </a:r>
          </a:p>
          <a:p xmlns:a="http://schemas.openxmlformats.org/drawingml/2006/main">
            <a:pPr algn="l">
              <a:defRPr sz="10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- Future provider integrations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E270B-6F1B-415F-848D-4F0D0DD6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The first product does not require OpenAI, Google, or Anthropic partnerships. The network becomes credible only after enough businesses publish structured endpoints.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816D3-BA7B-4858-9B3A-AEEBBD16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1CB4D-ED35-467D-8911-1DE4221A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GlassGate investor draft | 2026</a:t>
            </a:r>
          </a:p>
        </p:txBody>
      </p:sp>
    </p:spTree>
    <p:extLst>
      <p:ext uri="{BB962C8B-B14F-4D97-AF65-F5344CB8AC3E}">
        <p14:creationId xmlns:p14="http://schemas.microsoft.com/office/powerpoint/2010/main" val="19099833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A4F290-4AA3-423C-8522-2A402AB1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C63FA-D1E1-40F7-A0A0-7CCB50DD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90C3F-093A-442A-A7E8-A68400EB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rPr>
              <a:t>Architecture: source content becomes controlled agent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29816-195B-4CB2-9314-F68FED2F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676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8A5B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6AA15-1230-4EE4-ACDF-DFBB993D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5B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5B00"/>
                </a:solidFill>
                <a:latin typeface="Aptos"/>
                <a:ea typeface="Aptos"/>
                <a:cs typeface="Aptos"/>
              </a:rPr>
              <a:t>Website / CMS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770A0-FDC7-488C-9C81-9AD6D3E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HTML, sitemap, schema, docs, product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8C803-1179-4F0F-A9EC-46803705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9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493DC-0FD5-493F-93D7-7D4BDFDE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676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3"/>
          </a:solidFill>
          <a:ln xmlns:a="http://schemas.openxmlformats.org/drawingml/2006/main" w="9525">
            <a:solidFill>
              <a:srgbClr val="0F6B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94584-27FA-473A-827A-686FE423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47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 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5C432-DCD7-49A2-8CA9-4F870EF9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7175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Crawl, extract, normalize, dedupe, schedule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0B6D2-71A4-448F-A268-C0472342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0E5EC-06EF-428E-BF39-512DBAE0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1676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46CC5-551B-47ED-971E-9721D876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47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4E9DD-D203-4C11-A2C6-4D7D85EF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7175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Canonical match, schema health, freshness, no cloaking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9F7C1-E35A-4A0C-BB3D-01867FD4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9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A4CE8-4138-4E6A-967A-E2DC44CA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1676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9525">
            <a:solidFill>
              <a:srgbClr val="1C6D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17E08-178A-49B1-B409-8873AB46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47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DD0"/>
                </a:solidFill>
                <a:latin typeface="Aptos"/>
                <a:ea typeface="Aptos"/>
                <a:cs typeface="Aptos"/>
              </a:rPr>
              <a:t>Agent endpoints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63BC7-BD5E-4043-B67D-B29F9F4D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Markdown, JSON, AI index, agent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ED653-3CA2-42A5-B319-619CAF42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9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64D4B-7A84-4232-BEB1-B8BD7AA5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676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FF"/>
          </a:solidFill>
          <a:ln xmlns:a="http://schemas.openxmlformats.org/drawingml/2006/main" w="9525">
            <a:solidFill>
              <a:srgbClr val="5844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64675-784F-4670-A986-B169AF6A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47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44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844A0"/>
                </a:solidFill>
                <a:latin typeface="Aptos"/>
                <a:ea typeface="Aptos"/>
                <a:cs typeface="Aptos"/>
              </a:rPr>
              <a:t>Agents / apps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579B9-8E10-44CE-81F8-BB24B0B1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7175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AI search, copilots, shopping agents, vertical apps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CFCEF-9950-4BC9-B4DE-B6521D17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952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1F"/>
          </a:solidFill>
          <a:ln xmlns:a="http://schemas.openxmlformats.org/drawingml/2006/main" w="9525">
            <a:solidFill>
              <a:srgbClr val="1021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60BA9-AEA3-4638-8953-D71C62C3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38600"/>
            <a:ext cx="918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F2D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F2DD"/>
                </a:solidFill>
                <a:latin typeface="Aptos"/>
                <a:ea typeface="Aptos"/>
                <a:cs typeface="Aptos"/>
              </a:rPr>
              <a:t>Policy plane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FCFF0-563E-4F2A-8B87-E88BD8A8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9182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8E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8E3"/>
                </a:solidFill>
                <a:latin typeface="Aptos"/>
                <a:ea typeface="Aptos"/>
                <a:cs typeface="Aptos"/>
              </a:rPr>
              <a:t>Allow, block, rate-limit, authenticate, or price future agent access. Logs show who requested what, when, and which endpoint was served.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B9358-9A1A-483C-A035-BD91B59E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The technical wedge is source-of-truth transformation. The strategic expansion is delivery, control, and trust for agent traffic.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E6E76-87F2-4F11-A009-1C35155B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D5E9D0-8206-43CF-B598-1D475FA4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GlassGate investor draft | 2026</a:t>
            </a:r>
          </a:p>
        </p:txBody>
      </p:sp>
    </p:spTree>
    <p:extLst>
      <p:ext uri="{BB962C8B-B14F-4D97-AF65-F5344CB8AC3E}">
        <p14:creationId xmlns:p14="http://schemas.microsoft.com/office/powerpoint/2010/main" val="5990830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3DFB7-7A70-4D7A-8718-118D0BA2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EC421-01E4-46DB-A026-4400DE9D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635BA-3833-4145-A56E-E95BB4C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rPr>
              <a:t>Market wedge: agencies and SMEs before global platform deals.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C1C8E-7E10-425F-B3AF-1F649B3E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72FA0-EECF-4CD2-A46A-C5A2B91D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B"/>
          </a:solidFill>
          <a:ln xmlns:a="http://schemas.openxmlformats.org/drawingml/2006/main" w="0">
            <a:solidFill>
              <a:srgbClr val="20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1E8A3-1502-499A-854F-F72BB5E1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5E"/>
                </a:solidFill>
                <a:latin typeface="Aptos"/>
                <a:ea typeface="Aptos"/>
                <a:cs typeface="Aptos"/>
              </a:rPr>
              <a:t>Launch wedge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5D936-D64F-4DA2-A6F1-83A75399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Agencies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FED08-CAC0-42AD-A692-15659595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One sales relationship can unlock many client websites.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3D19C-307D-440C-BA97-682D8FDA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20512-071C-4725-8C20-D29BB5E4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DD0"/>
          </a:solidFill>
          <a:ln xmlns:a="http://schemas.openxmlformats.org/drawingml/2006/main" w="0">
            <a:solidFill>
              <a:srgbClr val="1C6D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B4075-A91A-466A-A75C-B83F1543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621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5E"/>
                </a:solidFill>
                <a:latin typeface="Aptos"/>
                <a:ea typeface="Aptos"/>
                <a:cs typeface="Aptos"/>
              </a:rPr>
              <a:t>First customers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C65C7-6032-4529-9BE9-1D721EB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098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SMEs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C0DA9-CC2F-4ABC-8013-37D4D37E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They understand SEO anxiety but lack agent-web infrastructure.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5FE1C-9BD4-4990-A77D-CBBF109A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C4BEA-5687-42B7-99D6-B4B2973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5AAA5-D13E-403D-9CAB-BB5D2CB5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621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5E"/>
                </a:solidFill>
                <a:latin typeface="Aptos"/>
                <a:ea typeface="Aptos"/>
                <a:cs typeface="Aptos"/>
              </a:rPr>
              <a:t>Local beachhead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14282-6E46-4A26-929A-98A6EE4F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98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Hamburg / EU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E5ACD-7DE7-4428-98F4-EEE8EC25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Credible pilots across local services, ecommerce, B2B, and logistics.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89380-9E4E-480D-A529-52435CF3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10325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BC7AC-52A1-4E94-BE79-2AD0C306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998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Beachhead segments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FBE73-DB0F-4ACE-A147-210AB22D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9982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SEO / web agencies: Resell AI-readiness reports and mirror hosting.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B2B SaaS: Docs, pricing, integrations, and support pages need reliable agent retrieval.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Ecommerce: Product facts, policies, returns, and availability should be agent-readable.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Local services: AI assistants will increasingly recommend, compare, and route customers.</a:t>
            </a:r>
          </a:p>
          <a:p xmlns:a="http://schemas.openxmlformats.org/drawingml/2006/main">
            <a:pPr algn="l">
              <a:defRPr sz="97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Logistics / industrial: Hamburg-specific B2B sites have complex services and terminology.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4FA56-4925-4BD8-9ACE-A38F8295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19750"/>
            <a:ext cx="929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Do not pitch first as a model-provider integration company. Pitch first as paid implementation infrastructure for businesses that need to become agent-ready.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0132E-6057-4355-98F7-9C5D928B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C0B3E-2FDF-4A3B-AB0A-33A0CA30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GlassGate investor draft | 2026</a:t>
            </a:r>
          </a:p>
        </p:txBody>
      </p:sp>
    </p:spTree>
    <p:extLst>
      <p:ext uri="{BB962C8B-B14F-4D97-AF65-F5344CB8AC3E}">
        <p14:creationId xmlns:p14="http://schemas.microsoft.com/office/powerpoint/2010/main" val="14787768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D50415-7708-4CC3-90AA-45087EDB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03047-D07F-43C6-A6A2-1AD53C05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32F43-1519-4C18-9EFA-C6783E1E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rPr>
              <a:t>Competition validates the category, but most tools stop before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C31D8-3B09-4879-AAB0-F499365F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C2"/>
          </a:solidFill>
          <a:ln xmlns:a="http://schemas.openxmlformats.org/drawingml/2006/main" w="0">
            <a:solidFill>
              <a:srgbClr val="B7C7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5D05B-CED4-4FF5-8093-077BDD5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096A4-5AEC-410E-B592-CF236CB9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AI visibility /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24CBF-7A6D-404C-B417-4F677AE7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197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Agent source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0C559-B8CB-4E03-B99C-37954993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Managed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93FC6-B21F-4FD1-9B4E-DCADA649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Infrastructure primitives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2EA81-8412-4E5F-9A12-9DB9653A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8A5B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EAC8F-953E-4F82-A295-0E251C3E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527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5B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5B00"/>
                </a:solidFill>
                <a:latin typeface="Aptos"/>
                <a:ea typeface="Aptos"/>
                <a:cs typeface="Aptos"/>
              </a:rPr>
              <a:t>Profound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30862-8A3A-4A9C-9AB1-58E21AE6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8A5B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D559F-0E84-480D-B4DE-374B9551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05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5B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5B00"/>
                </a:solidFill>
                <a:latin typeface="Aptos"/>
                <a:ea typeface="Aptos"/>
                <a:cs typeface="Aptos"/>
              </a:rPr>
              <a:t>Peec / Semrush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B681A-6559-4B60-940C-0FBAC072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180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0F6B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F46F1-6174-4ACC-86D6-247AE442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Plugins / llms.txt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123D2-829E-472A-945B-566D5EF0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7FF"/>
          </a:solidFill>
          <a:ln xmlns:a="http://schemas.openxmlformats.org/drawingml/2006/main" w="9525">
            <a:solidFill>
              <a:srgbClr val="1C6D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18BD0-BEA6-4A83-9976-CE041421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6DD0"/>
                </a:solidFill>
                <a:latin typeface="Aptos"/>
                <a:ea typeface="Aptos"/>
                <a:cs typeface="Aptos"/>
              </a:rPr>
              <a:t>Cloudflare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2AA6E-1C45-4F15-ADC3-E88E0D4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133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9525">
            <a:solidFill>
              <a:srgbClr val="5844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3EC44-52E5-48B1-ADDE-D39BABD8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44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44A0"/>
                </a:solidFill>
                <a:latin typeface="Aptos"/>
                <a:ea typeface="Aptos"/>
                <a:cs typeface="Aptos"/>
              </a:rPr>
              <a:t>Scrunch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84C4E5-E6D0-4000-BFC3-3A44DFB1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180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7F2DD"/>
          </a:solidFill>
          <a:ln xmlns:a="http://schemas.openxmlformats.org/drawingml/2006/main" w="19050">
            <a:solidFill>
              <a:srgbClr val="0F6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04BE84-F060-4FA2-9B15-381DBFCC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B8610-2FA8-4D7B-A0B1-F18CC6A6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1F"/>
          </a:solidFill>
          <a:ln xmlns:a="http://schemas.openxmlformats.org/drawingml/2006/main" w="9525">
            <a:solidFill>
              <a:srgbClr val="1021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EF232-B0DB-4784-9942-F1B84E61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15000"/>
            <a:ext cx="956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8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8E3"/>
                </a:solidFill>
                <a:latin typeface="Aptos"/>
                <a:ea typeface="Aptos"/>
                <a:cs typeface="Aptos"/>
              </a:rPr>
              <a:t>Investor answer: Cloudflare and Scrunch are not reasons to avoid the market. They are reasons to avoid a small `llms.txt` pitch and focus on managed source delivery plus agent policy.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05DAAB-C2C2-4F71-9A88-27BA04F1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BFE73B-2CCA-48C6-B63B-A3B33018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GlassGate investor draft | 2026</a:t>
            </a:r>
          </a:p>
        </p:txBody>
      </p:sp>
    </p:spTree>
    <p:extLst>
      <p:ext uri="{BB962C8B-B14F-4D97-AF65-F5344CB8AC3E}">
        <p14:creationId xmlns:p14="http://schemas.microsoft.com/office/powerpoint/2010/main" val="15606623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EC9923-9207-4E2D-BFA5-FA8C61BB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9B605-65DF-404B-BE8A-2A021F46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625A3-A99F-4ED1-B45A-134E01C7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rPr>
              <a:t>Business model: audit to subscription to network usage.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E0965-2C88-40FC-8748-93558ADA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DF0CE-9515-4A2A-B161-13DA5DC1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95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476ED-F3F2-452F-91FE-2FF585FA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77FF3-FB01-4D7B-9237-A4D39CE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95450"/>
            <a:ext cx="520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DAFAC-8BC6-4259-B832-F18A205A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7BA74-969F-4655-A0CA-7F207F7E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1106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  <a:ln xmlns:a="http://schemas.openxmlformats.org/drawingml/2006/main" w="0">
            <a:solidFill>
              <a:srgbClr val="EEF5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F5D77-2019-44FD-8030-D5D2823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Free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7F2AA-A01A-4C04-B441-E626B53A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717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6DD0"/>
                </a:solidFill>
                <a:latin typeface="Aptos"/>
                <a:ea typeface="Aptos"/>
                <a:cs typeface="Aptos"/>
              </a:rPr>
              <a:t>EUR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C542E-DE74-491B-ACBD-033DD290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717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Lead 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763C7-907E-45F1-9421-947D37F2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520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AI-readiness score and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A82BC-14A5-49C9-A0A4-CE430E81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Starter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E8D3E-8203-4973-84E4-C4380981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86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6DD0"/>
                </a:solidFill>
                <a:latin typeface="Aptos"/>
                <a:ea typeface="Aptos"/>
                <a:cs typeface="Aptos"/>
              </a:rPr>
              <a:t>EUR 79/mo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4877-F86E-4914-9EDB-7E27BCC0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Small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EF1DC-7825-4E5E-9A37-BE164EF5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520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10 mirrored pages, monthly sync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ACE0C-2D4B-412C-BBFB-3FED1AAC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1106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  <a:ln xmlns:a="http://schemas.openxmlformats.org/drawingml/2006/main" w="0">
            <a:solidFill>
              <a:srgbClr val="EEF5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F1E58-D03A-40D6-B044-8EF91399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E21FD-11A1-4D9C-AAD2-A49E293B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00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6DD0"/>
                </a:solidFill>
                <a:latin typeface="Aptos"/>
                <a:ea typeface="Aptos"/>
                <a:cs typeface="Aptos"/>
              </a:rPr>
              <a:t>EUR 249/mo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610BC-815E-4B5C-9BC7-9201B7AB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004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SME / ecommerce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4BEBA-5533-42C9-B284-31923A99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520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100 pages, JSON facts, weekly 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C21F6-328A-4855-9981-C8A01164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Agency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91BF1-12AD-4A21-B137-88E52324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14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6DD0"/>
                </a:solidFill>
                <a:latin typeface="Aptos"/>
                <a:ea typeface="Aptos"/>
                <a:cs typeface="Aptos"/>
              </a:rPr>
              <a:t>EUR 799/mo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3E1E96-59FD-49E0-9145-D89D1A42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14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SEO / web agencies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9D71B-1288-4E15-8794-BAD27EA0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520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Multi-client dashboard and white-label reports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E7758-8D93-44BB-BDD7-52413734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1106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  <a:ln xmlns:a="http://schemas.openxmlformats.org/drawingml/2006/main" w="0">
            <a:solidFill>
              <a:srgbClr val="EEF5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E5194-E220-48C4-B2B9-5984C5CF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Enterprise/API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16F9E1-9403-41AA-8FEB-4F0E1B3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291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6DD0"/>
                </a:solidFill>
                <a:latin typeface="Aptos"/>
                <a:ea typeface="Aptos"/>
                <a:cs typeface="Aptos"/>
              </a:rPr>
              <a:t>Custom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FD2FD2-B2F4-4B3A-8D44-93C2064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291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Large sites / vertical agents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212495-B62E-4A8B-B6D7-C778897A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520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11F"/>
                </a:solidFill>
                <a:latin typeface="Aptos"/>
                <a:ea typeface="Aptos"/>
                <a:cs typeface="Aptos"/>
              </a:rPr>
              <a:t>SLA, API, custom policies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7BF5C7-6419-4530-9DD7-86286BEC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9867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9525">
            <a:solidFill>
              <a:srgbClr val="A9CF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1DF30B-F8A1-49D2-87C7-5B6AA966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6DD0"/>
                </a:solidFill>
                <a:latin typeface="Aptos"/>
                <a:ea typeface="Aptos"/>
                <a:cs typeface="Aptos"/>
              </a:rPr>
              <a:t>Expansion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3D6B03-0064-44E4-927A-CDCA71A1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530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Service-led onboarding builds the corpus and playbook. SaaS subscriptions create recurring revenue. The Agent Delivery Network adds API usage, verified access, and future paid agent traffic.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F1D06E-D750-4D2F-8A71-E37A97FB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F06876-4C3B-4B96-8B11-88113508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GlassGate investor draft | 2026</a:t>
            </a:r>
          </a:p>
        </p:txBody>
      </p:sp>
    </p:spTree>
    <p:extLst>
      <p:ext uri="{BB962C8B-B14F-4D97-AF65-F5344CB8AC3E}">
        <p14:creationId xmlns:p14="http://schemas.microsoft.com/office/powerpoint/2010/main" val="5494239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D4F34-25D7-4B22-9667-287C8A14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9B3E1-D77B-45EE-BBB9-D203AFF5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67607-6947-4BB5-B95E-4E63281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rPr>
              <a:t>MVP proof: show the before/after agent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89B64-DC48-43A7-9179-6702AFDD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586B4-D82E-4A02-B9C0-9FEC912F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1. Enter 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49C90-1179-497F-984D-3C7B0051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84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Audit robots, sitemap, schema, text availability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73D8E-03F8-481D-B778-3C86EC47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03301-3300-466B-A02E-CEC3285D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D"/>
          </a:solidFill>
          <a:ln xmlns:a="http://schemas.openxmlformats.org/drawingml/2006/main" w="9525">
            <a:solidFill>
              <a:srgbClr val="20A3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B84DF-F16B-4C40-947C-3DA9CD61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2. Generate mirror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FD27D-08A1-486A-98AE-C535992F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184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`llms.txt`, Markdown pages, JSON facts, AI 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DEC90-72D3-4ADD-ACC0-06280A64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89786-BA4F-4F31-BE1D-8075755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BAC23-F7DB-44EC-949D-108612CB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3. Compare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5F34D-BC57-43D7-BA1B-744B6D71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184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Raw HTML vs structured source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6D4D3-90B6-4031-BA53-AA120EFF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22CF3-772D-413D-953D-ABB55D25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21A7D-707F-40D4-B75D-CD17EEF3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621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4. Show 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19FDD-0E40-45A6-9497-DC57B7C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86000"/>
            <a:ext cx="184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Which agent requested which endpoint and policy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D4193-94FE-43A5-BC86-4E9C57ED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8A8D6-3820-42AB-A95A-F39DF966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B"/>
          </a:solidFill>
          <a:ln xmlns:a="http://schemas.openxmlformats.org/drawingml/2006/main" w="0">
            <a:solidFill>
              <a:srgbClr val="20A3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38E18-9F5E-4CBB-AA54-2F19833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5E"/>
                </a:solidFill>
                <a:latin typeface="Aptos"/>
                <a:ea typeface="Aptos"/>
                <a:cs typeface="Aptos"/>
              </a:rPr>
              <a:t>System metric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32BD3-4249-4180-86DE-E2DD5CFE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Token footprint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F1F504-75DF-4D64-820C-CF51055D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Compare HTML vs Markdown/JSON size per page.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4EB973-3F6F-4431-988C-6D21FA71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98CECA-B7A8-4C5E-997F-796E9719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DD0"/>
          </a:solidFill>
          <a:ln xmlns:a="http://schemas.openxmlformats.org/drawingml/2006/main" w="0">
            <a:solidFill>
              <a:srgbClr val="1C6D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B91D9D-BBAE-41CE-8F3F-82F16B51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814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5E"/>
                </a:solidFill>
                <a:latin typeface="Aptos"/>
                <a:ea typeface="Aptos"/>
                <a:cs typeface="Aptos"/>
              </a:rPr>
              <a:t>Quality metric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EC6665-612F-4D92-BA77-908092CD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291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Fact extraction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4A8C9-E195-4AAA-B58B-8F07CF97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910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Check whether key facts are complete and source-linked.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16403C-133E-46C8-BFE1-259C1918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E2344-E7AC-45DB-85B4-5E3BBB54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32221E-7E9C-4B80-940C-9A5B7B78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5E"/>
                </a:solidFill>
                <a:latin typeface="Aptos"/>
                <a:ea typeface="Aptos"/>
                <a:cs typeface="Aptos"/>
              </a:rPr>
              <a:t>Business metric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456C5B-D371-43EA-AC5D-51ED8936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291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Agent coverage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DB41F1-3E8B-4474-A7B9-51993B80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910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Track crawler access and endpoint requests over time.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D52DC1-ADC3-429F-9B33-7FBF559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86400"/>
            <a:ext cx="963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The MVP does not need fake ranking claims. It needs to prove that agents get cleaner, fresher, more structured source data.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D5CBCD-EF03-400C-A2AA-E360D3B9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A05D2C-C2DE-4E27-A78E-024533E1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GlassGate investor draft | 2026</a:t>
            </a:r>
          </a:p>
        </p:txBody>
      </p:sp>
    </p:spTree>
    <p:extLst>
      <p:ext uri="{BB962C8B-B14F-4D97-AF65-F5344CB8AC3E}">
        <p14:creationId xmlns:p14="http://schemas.microsoft.com/office/powerpoint/2010/main" val="12230977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382BC1-3E54-4669-A77B-469E95BB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94EA4-5678-429A-911B-F34EB989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25BA1-9538-4F4B-BCF1-9282BF70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11F"/>
                </a:solidFill>
                <a:latin typeface="Aptos Display"/>
                <a:ea typeface="Aptos Display"/>
                <a:cs typeface="Aptos Display"/>
              </a:rPr>
              <a:t>Roadmap: build one-sided value before the network bet.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226CA-6650-4B9C-ABA7-8C93A033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944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D0"/>
          </a:solidFill>
          <a:ln xmlns:a="http://schemas.openxmlformats.org/drawingml/2006/main" w="0">
            <a:solidFill>
              <a:srgbClr val="C7D4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05C4C-09F9-4B9E-AD34-665A90FE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4B"/>
          </a:solidFill>
          <a:ln xmlns:a="http://schemas.openxmlformats.org/drawingml/2006/main" w="0">
            <a:solidFill>
              <a:srgbClr val="0F6B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08928-E4B5-4E94-9DCA-5F4CF74D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133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D"/>
          </a:solidFill>
          <a:ln xmlns:a="http://schemas.openxmlformats.org/drawingml/2006/main" w="9525">
            <a:solidFill>
              <a:srgbClr val="0F6B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9CC25-17B3-4B79-A178-F4DE174C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B4B"/>
                </a:solidFill>
                <a:latin typeface="Aptos"/>
                <a:ea typeface="Aptos"/>
                <a:cs typeface="Aptos"/>
              </a:rPr>
              <a:t>0-30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6A0DB-A719-44EB-A7D7-EF87A690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Audit MVP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Generated mirror files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Before/after extraction demo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5 local test sites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A7A73-198C-4F5A-A8CC-84855323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19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  <a:ln xmlns:a="http://schemas.openxmlformats.org/drawingml/2006/main" w="0">
            <a:solidFill>
              <a:srgbClr val="1C6D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5B208-626E-42C8-B148-252E8D62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2133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FF"/>
          </a:solidFill>
          <a:ln xmlns:a="http://schemas.openxmlformats.org/drawingml/2006/main" w="9525">
            <a:solidFill>
              <a:srgbClr val="1C6D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4290B-DE2F-4E74-9444-2B04C2C1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909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6D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6DD0"/>
                </a:solidFill>
                <a:latin typeface="Aptos"/>
                <a:ea typeface="Aptos"/>
                <a:cs typeface="Aptos"/>
              </a:rPr>
              <a:t>30-90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DF1BB-2E8A-4A36-BF4A-6DDDDB7F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1475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Scheduled sync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WordPress/static integrations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Agency dashboard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20-50 pilot websites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F16BD-4165-4736-B2EB-171E1BF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19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300"/>
          </a:solidFill>
          <a:ln xmlns:a="http://schemas.openxmlformats.org/drawingml/2006/main" w="0">
            <a:solidFill>
              <a:srgbClr val="7A53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0C0C8-B1E9-440E-AC40-F4145253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38500"/>
            <a:ext cx="2133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7A53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A845A-A7E3-4308-B1D2-F99CAAC6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909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53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A5300"/>
                </a:solidFill>
                <a:latin typeface="Aptos"/>
                <a:ea typeface="Aptos"/>
                <a:cs typeface="Aptos"/>
              </a:rPr>
              <a:t>3-12 months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F9A20-B633-4E29-A8D8-CCB4418B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1475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Hosted endpoints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Agent logs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Policy controls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Vertical-agent APIs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E4AD9-2091-4A67-9F02-CCEE5AAD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44A0"/>
          </a:solidFill>
          <a:ln xmlns:a="http://schemas.openxmlformats.org/drawingml/2006/main" w="0">
            <a:solidFill>
              <a:srgbClr val="5844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69D9B-84BA-4130-BE02-1CC83F9E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38500"/>
            <a:ext cx="2133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FF"/>
          </a:solidFill>
          <a:ln xmlns:a="http://schemas.openxmlformats.org/drawingml/2006/main" w="9525">
            <a:solidFill>
              <a:srgbClr val="5844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3448E-3F79-441B-900B-B20D0EEA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44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44A0"/>
                </a:solidFill>
                <a:latin typeface="Aptos"/>
                <a:ea typeface="Aptos"/>
                <a:cs typeface="Aptos"/>
              </a:rPr>
              <a:t>12+ months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9A0A1-1780-49A5-BF68-C0CBEA9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Agent identity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Paid access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API usage</a:t>
            </a:r>
          </a:p>
          <a:p xmlns:a="http://schemas.openxmlformats.org/drawingml/2006/main">
            <a:pPr algn="l">
              <a:defRPr sz="900" b="0">
                <a:solidFill>
                  <a:srgbClr val="5261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E"/>
                </a:solidFill>
                <a:latin typeface="Aptos"/>
                <a:ea typeface="Aptos"/>
                <a:cs typeface="Aptos"/>
              </a:rPr>
              <a:t>Agent Delivery Network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04D13-0C06-4FA5-A65C-17F15303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F"/>
                </a:solidFill>
                <a:latin typeface="Aptos"/>
                <a:ea typeface="Aptos"/>
                <a:cs typeface="Aptos"/>
              </a:rPr>
              <a:t>Sequencing matters: sell readiness and mirrors first, then earn the right to become agent delivery infrastructure.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96220-2780-413B-84D7-CA0DDAB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FCF85-470F-4088-A864-15CB9E44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GlassGate investor draft | 2026</a:t>
            </a:r>
          </a:p>
        </p:txBody>
      </p:sp>
    </p:spTree>
    <p:extLst>
      <p:ext uri="{BB962C8B-B14F-4D97-AF65-F5344CB8AC3E}">
        <p14:creationId xmlns:p14="http://schemas.microsoft.com/office/powerpoint/2010/main" val="11506409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701F31-0408-4B5B-8E21-B255EA6A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1F"/>
          </a:solidFill>
          <a:ln xmlns:a="http://schemas.openxmlformats.org/drawingml/2006/main" w="0">
            <a:solidFill>
              <a:srgbClr val="102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A295E-20C3-4647-8FA5-87D3DE07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D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F2DD"/>
                </a:solidFill>
                <a:latin typeface="Aptos"/>
                <a:ea typeface="Aptos"/>
                <a:cs typeface="Aptos"/>
              </a:rPr>
              <a:t>GlassGate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A7674-A7A7-4F49-8288-6CF833D7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42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business needed a website for Google. Every business will need an agent endpoint for 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3E871-840B-49D0-BB02-C4586922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3162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2F"/>
          </a:solidFill>
          <a:ln xmlns:a="http://schemas.openxmlformats.org/drawingml/2006/main" w="9525">
            <a:solidFill>
              <a:srgbClr val="3864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0C300-8025-4CAC-AD29-4D82CD47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F2D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F2DD"/>
                </a:solidFill>
                <a:latin typeface="Aptos"/>
                <a:ea typeface="Aptos"/>
                <a:cs typeface="Aptos"/>
              </a:rPr>
              <a:t>What we need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471E0-D8E3-47BE-815F-73C8C65D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819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7E2"/>
                </a:solidFill>
                <a:latin typeface="Aptos"/>
                <a:ea typeface="Aptos"/>
                <a:cs typeface="Aptos"/>
              </a:rPr>
              <a:t>- 5 agency design partners</a:t>
            </a:r>
          </a:p>
          <a:p xmlns:a="http://schemas.openxmlformats.org/drawingml/2006/main">
            <a:pPr algn="l">
              <a:defRPr sz="1050" b="0">
                <a:solidFill>
                  <a:srgbClr val="D8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7E2"/>
                </a:solidFill>
                <a:latin typeface="Aptos"/>
                <a:ea typeface="Aptos"/>
                <a:cs typeface="Aptos"/>
              </a:rPr>
              <a:t>- 50 pilot websites</a:t>
            </a:r>
          </a:p>
          <a:p xmlns:a="http://schemas.openxmlformats.org/drawingml/2006/main">
            <a:pPr algn="l">
              <a:defRPr sz="1050" b="0">
                <a:solidFill>
                  <a:srgbClr val="D8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7E2"/>
                </a:solidFill>
                <a:latin typeface="Aptos"/>
                <a:ea typeface="Aptos"/>
                <a:cs typeface="Aptos"/>
              </a:rPr>
              <a:t>- Investor feedback on wedge and pricing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B41BF-8119-4468-945D-BE124427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3162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2F"/>
          </a:solidFill>
          <a:ln xmlns:a="http://schemas.openxmlformats.org/drawingml/2006/main" w="9525">
            <a:solidFill>
              <a:srgbClr val="386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A4A0A-86ED-4792-8827-7D0E2A14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F2D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F2DD"/>
                </a:solidFill>
                <a:latin typeface="Aptos"/>
                <a:ea typeface="Aptos"/>
                <a:cs typeface="Aptos"/>
              </a:rPr>
              <a:t>What we prove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F7316-F1C7-42F2-8FA4-19774736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819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7E2"/>
                </a:solidFill>
                <a:latin typeface="Aptos"/>
                <a:ea typeface="Aptos"/>
                <a:cs typeface="Aptos"/>
              </a:rPr>
              <a:t>- Websites can become agent-readable</a:t>
            </a:r>
          </a:p>
          <a:p xmlns:a="http://schemas.openxmlformats.org/drawingml/2006/main">
            <a:pPr algn="l">
              <a:defRPr sz="1050" b="0">
                <a:solidFill>
                  <a:srgbClr val="D8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7E2"/>
                </a:solidFill>
                <a:latin typeface="Aptos"/>
                <a:ea typeface="Aptos"/>
                <a:cs typeface="Aptos"/>
              </a:rPr>
              <a:t>- Agencies can resell it</a:t>
            </a:r>
          </a:p>
          <a:p xmlns:a="http://schemas.openxmlformats.org/drawingml/2006/main">
            <a:pPr algn="l">
              <a:defRPr sz="1050" b="0">
                <a:solidFill>
                  <a:srgbClr val="D8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7E2"/>
                </a:solidFill>
                <a:latin typeface="Aptos"/>
                <a:ea typeface="Aptos"/>
                <a:cs typeface="Aptos"/>
              </a:rPr>
              <a:t>- Structured endpoints create measurable retrieval improvements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F36C9-0ED7-46F2-B338-7C51CF68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86100"/>
            <a:ext cx="3162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2F"/>
          </a:solidFill>
          <a:ln xmlns:a="http://schemas.openxmlformats.org/drawingml/2006/main" w="9525">
            <a:solidFill>
              <a:srgbClr val="386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10749-2422-49DD-AD18-AF5649CB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F2D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F2DD"/>
                </a:solidFill>
                <a:latin typeface="Aptos"/>
                <a:ea typeface="Aptos"/>
                <a:cs typeface="Aptos"/>
              </a:rPr>
              <a:t>What it becomes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CACE2-1F0C-4AC0-8581-4A9D46E3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2819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7E2"/>
                </a:solidFill>
                <a:latin typeface="Aptos"/>
                <a:ea typeface="Aptos"/>
                <a:cs typeface="Aptos"/>
              </a:rPr>
              <a:t>- Agent gateway</a:t>
            </a:r>
          </a:p>
          <a:p xmlns:a="http://schemas.openxmlformats.org/drawingml/2006/main">
            <a:pPr algn="l">
              <a:defRPr sz="1050" b="0">
                <a:solidFill>
                  <a:srgbClr val="D8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7E2"/>
                </a:solidFill>
                <a:latin typeface="Aptos"/>
                <a:ea typeface="Aptos"/>
                <a:cs typeface="Aptos"/>
              </a:rPr>
              <a:t>- Policy and identity layer</a:t>
            </a:r>
          </a:p>
          <a:p xmlns:a="http://schemas.openxmlformats.org/drawingml/2006/main">
            <a:pPr algn="l">
              <a:defRPr sz="1050" b="0">
                <a:solidFill>
                  <a:srgbClr val="D8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7E2"/>
                </a:solidFill>
                <a:latin typeface="Aptos"/>
                <a:ea typeface="Aptos"/>
                <a:cs typeface="Aptos"/>
              </a:rPr>
              <a:t>- Structured delivery network for the agentic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51B41-6427-4ACD-8A43-A9D46161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D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F2DD"/>
                </a:solidFill>
                <a:latin typeface="Aptos"/>
                <a:ea typeface="Aptos"/>
                <a:cs typeface="Aptos"/>
              </a:rPr>
              <a:t>GlassGate: structured web delivery for AI agents.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EDDEE-FD95-4F7C-9A2A-0A5A0D3D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solidFill>
              <a:srgbClr val="C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CB3A7-DA64-44AB-9D3A-8E30C59A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783"/>
                </a:solidFill>
                <a:latin typeface="Aptos"/>
                <a:ea typeface="Aptos"/>
                <a:cs typeface="Aptos"/>
              </a:rPr>
              <a:t>Investor draft | no implied model-provider partnerships</a:t>
            </a:r>
          </a:p>
        </p:txBody>
      </p:sp>
    </p:spTree>
    <p:extLst>
      <p:ext uri="{BB962C8B-B14F-4D97-AF65-F5344CB8AC3E}">
        <p14:creationId xmlns:p14="http://schemas.microsoft.com/office/powerpoint/2010/main" val="848349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2026-06-06T10:24:57.6210000Z</dcterms:created>
  <dcterms:modified xsi:type="dcterms:W3CDTF">2026-06-06T10:24:57.6210000Z</dcterms:modified>
</coreProperties>
</file>